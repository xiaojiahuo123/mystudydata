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95" r:id="rId21"/>
    <p:sldId id="296" r:id="rId22"/>
    <p:sldId id="275" r:id="rId23"/>
    <p:sldId id="277" r:id="rId24"/>
    <p:sldId id="297" r:id="rId25"/>
    <p:sldId id="298" r:id="rId26"/>
    <p:sldId id="299" r:id="rId27"/>
    <p:sldId id="301" r:id="rId28"/>
    <p:sldId id="300" r:id="rId29"/>
    <p:sldId id="294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7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6675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工业网络与 PLC 通信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技术培训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3794760"/>
            <a:ext cx="1463040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14800"/>
            <a:ext cx="6675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BF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从交换机原理到 Modbus 通信 · 现场真实界面图解</a:t>
            </a:r>
            <a:endParaRPr sz="1500" b="0">
              <a:solidFill>
                <a:srgbClr val="BF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CBC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面向工业现场运维工程师 / 自动化工程师</a:t>
            </a:r>
            <a:endParaRPr sz="1200" b="0">
              <a:solidFill>
                <a:srgbClr val="9CBC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Snipaste_2026-09-06_15-44-4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8652"/>
            <a:ext cx="3520440" cy="20063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5212080"/>
            <a:ext cx="3794760" cy="868680"/>
          </a:xfrm>
          <a:prstGeom prst="rect">
            <a:avLst/>
          </a:prstGeom>
          <a:solidFill>
            <a:srgbClr val="1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39496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8FB4C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Hirschmann  ·  KYLAND  ·  HOLLiAS</a:t>
            </a:r>
            <a:endParaRPr sz="1050" b="0">
              <a:solidFill>
                <a:srgbClr val="8FB4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58704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BF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讲者：谭跃</a:t>
            </a:r>
            <a:endParaRPr sz="1150" b="0">
              <a:solidFill>
                <a:srgbClr val="BF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7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8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68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1560" y="3657600"/>
            <a:ext cx="1280160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50208"/>
            <a:ext cx="4297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工业网络与设备基础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>
                <a:solidFill>
                  <a:srgbClr val="9CBC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什么是网络通信中的设备？</a:t>
            </a:r>
            <a:endParaRPr sz="1200" b="0">
              <a:solidFill>
                <a:srgbClr val="9CBC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>
                <a:solidFill>
                  <a:srgbClr val="9CBC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它们有什么作用？</a:t>
            </a:r>
            <a:endParaRPr sz="1200" b="0">
              <a:solidFill>
                <a:srgbClr val="9CBC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75120" y="1920240"/>
            <a:ext cx="4800600" cy="3017520"/>
          </a:xfrm>
          <a:prstGeom prst="rect">
            <a:avLst/>
          </a:prstGeom>
          <a:solidFill>
            <a:srgbClr val="21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 VLAN？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Virtual LAN —— 把一台物理交换机切成多台逻辑交换机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工业网络与设备基础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4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9038"/>
            <a:ext cx="6391655" cy="3232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图：VLAN 信息 —— 默认 VLAN 1，所有端口均为 Untag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 VLAN 会怎样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所有端口默认同属一个广播域，广播帧会转发到每一个端口。终端越多广播越频繁，一个故障网卡就可能拖垮整个网段。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 是什么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VLAN（Virtual LAN，虚拟局域网）把一台物理交换机划分成多个相互隔离的逻辑交换机，每个 VLAN 都是一个独立的广播域。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有什么作用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缩小广播域与故障范围；② 安全分区，控制网、监控网、办公网互不可见；③ 组网灵活，跨机柜的同业务设备也能归到同一组。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48284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如何起作用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4802886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依靠 802.1Q 标签：Access 口接终端收发不带标签的帧，Trunk 口承载多个 VLAN 做互联，PVID 决定未打标帧归到哪个 VLAN。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71231" y="5562600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3" y="5644896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 VLAN 之间通信必须走三层（路由），二层上它们互相隔离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工业交换机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 划分，网段隔离，ACL 访问控制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工业网络与设备基础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67219"/>
            <a:ext cx="6483095" cy="4056199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5-47-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12939"/>
            <a:ext cx="6391655" cy="39647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图：赫斯曼 VLAN 端口划分 —— 1/4、1/5 属 VLAN 300，1/6、1/7 属 VLAN 370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 划分能力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以赫斯曼交换机为例，图中将对应的端口划分到需要的 vlan，也就实现了不同的端口对应不同网段。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可靠性与冗余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支持环网冗余协议，链路中断时倒换时间通常在几十毫秒级，保证控制业务不中断。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状态可视化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图中这类设备会持续上报温度、电源、信号触点与告警计数，商用交换机一般不具备这些工业运维关心的状态量。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赫斯曼交换机 VLAN 划分教程</a:t>
            </a:r>
            <a:endParaRPr sz="22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以下为赫斯曼交换机的 VLAN 划分现场操作步骤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0" y="2377440"/>
            <a:ext cx="7616952" cy="3291840"/>
          </a:xfrm>
          <a:prstGeom prst="rect">
            <a:avLst/>
          </a:prstGeom>
          <a:solidFill>
            <a:srgbClr val="F2F6F9"/>
          </a:solidFill>
          <a:ln w="9525">
            <a:solidFill>
              <a:srgbClr val="D8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108960"/>
            <a:ext cx="7068312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▶  以下为实操讲解</a:t>
            </a:r>
            <a:endParaRPr sz="24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请配合下一页的截图逐步操作</a:t>
            </a:r>
            <a:endParaRPr sz="13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东土交换机简介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场站内部数据汇聚与交换的主力机型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工业网络与设备基础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54480"/>
            <a:ext cx="6181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跨场站用赫斯曼</a:t>
            </a:r>
            <a:endParaRPr sz="13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1874519"/>
            <a:ext cx="6126480" cy="2420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赫斯曼交换机主要使用于场站到阀室以及阀室之间，负责长距离、光纤环网与冗余切换。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2454909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409189"/>
            <a:ext cx="6181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场站内用东土</a:t>
            </a:r>
            <a:endParaRPr sz="13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2729230"/>
            <a:ext cx="6126480" cy="2420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场站内的网络转发、数据通信使用东土交换机，覆盖机柜内接入与短距汇聚。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309619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263900"/>
            <a:ext cx="6181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选型原则</a:t>
            </a:r>
            <a:endParaRPr sz="13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583940"/>
            <a:ext cx="6126480" cy="2420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按『使用边界 + 距离 + 业务等级』组合选型，不要在所有位置都用同一型号。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7838"/>
            <a:ext cx="8595360" cy="403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东土</a:t>
            </a:r>
            <a:r>
              <a:rPr lang="zh-CN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</a:t>
            </a:r>
            <a:endParaRPr lang="zh-CN"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验收第一步不是通电，而是核对型号、序列号与版本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工业网络与设备基础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582689"/>
            <a:ext cx="6483095" cy="2225259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1-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28409"/>
            <a:ext cx="6391655" cy="21338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图：设备基本信息 —— 型号 SICOM2024M-2S24T-SC40-L3-L3 与序列号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型号拆解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59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SICOM2024M-2S24T-SC40-L3-L3 为例：24 个百兆电口加 2 个光口槽位，SC40 表示光模块传输距离约 40km，L3 表示支持三层路由功能。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694051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648331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序列号与 MAC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968371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是设备的身份证。资产台账、质保报修、授权许可、网管平台纳管都依赖它们，验收时必须记录归档。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700653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654933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BootRom 与软件版本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97497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BootRom 类似 PC 的 BIOS，负责引导，一般不轻易升级；软件版本决定功能集与已知漏洞，是升级的主要对象。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5504688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5586983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BootRom 升级失败会导致设备变砖，非必要不动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端口状态监测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数据看不到了？先看端口状态与流量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端口、链路与数据转发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0055" y="1508760"/>
            <a:ext cx="4074585" cy="207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1-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775" y="1554480"/>
            <a:ext cx="3983145" cy="19832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592576"/>
            <a:ext cx="6391655" cy="19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图：端口状态信息 —— 管理状态、连接状态、速率与双工模式</a:t>
            </a:r>
            <a:endParaRPr sz="8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20209" y="3831336"/>
            <a:ext cx="4014276" cy="207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nipaste_2026-09-06_19-01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29" y="3877056"/>
            <a:ext cx="3922836" cy="19832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915152"/>
            <a:ext cx="6391655" cy="19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图：端口流量统计 —— 收发字节、包数、CRC 错误与超短帧</a:t>
            </a:r>
            <a:endParaRPr sz="8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场站中有时出现设备的数据无法监测，或者调控中心监测不到，肉眼无法直接判断连接状态。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看哪两项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登录东土交换机管理页面，查看端口连接状态（管理 / 链路 up/down）与端口流量统计。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成环特征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3796283"/>
            <a:ext cx="3767328" cy="769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东土交换机用于数据汇聚与交换，属于二层。如果出现接错网线或其他原因导致成环，会导致泛洪、广播风暴，表现为设备正常但没数据。此时可通过 Console 口连接交换机，查看端口流量是否异常，判断是否存在成环情况。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71231" y="488594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484022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判断要点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90688" y="5160264"/>
            <a:ext cx="3767328" cy="59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多个口的包速率同时飙高且数值接近 → 泛洪特征（都在转发同一批帧）；CRC 错误和小于 64Bytes 两列同步增长 → 强烈提示环路或物理层问题。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从统计计数判断链路是否健康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不要只看通不通，要看计数是怎么涨的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端口、链路与数据转发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913"/>
            <a:ext cx="6483095" cy="3322810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1-4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9633"/>
            <a:ext cx="6391655" cy="32313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图：端口流量统计 —— 收发字节、包数、CRC 错误与超短帧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收发字节与包数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判断链路上是否真有业务流量。若只有广播包持续增长而没有有效单播，往往是环路或配置问题。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CRC 错误帧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帧校验失败，指向物理层：线缆受损、光模块老化、接头污染、超距、强电干扰。这是最有诊断价值的指标。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超短帧（小于 64 字节）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正常以太网帧最小 64 字节，小于它的多为冲突碎片，常见于双工不匹配或物理层异常。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48284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看增量，不看绝对值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4802886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计数通常只增不清零。正确做法是记录基线，隔一段时间再对比增量，判断是否在持续劣化。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71231" y="5562600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3" y="5644896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重启会清空计数，排查前先截图留证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为什么成环会导致数据出不去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环路本身不致命，组播/广播泛洪才是元凶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端口、链路与数据转发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51815"/>
            <a:ext cx="6483095" cy="3487007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2-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97535"/>
            <a:ext cx="6391655" cy="33955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图：端口配置 —— 别名、状态、协商、速率与双工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简单解释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769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回路成环时并不会立即出现广播风暴：通信中的设备是存在于 MAC 表的。一旦 MAC 表老化或 ARP 缓存到期重新广播，就会在环路中不断循环导致广播风暴、MAC 表失效，无法正常通信，数据也就无法交互。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5504688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5724143"/>
            <a:ext cx="371246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环路上线缆错接是</a:t>
            </a:r>
            <a:r>
              <a:rPr lang="zh-CN"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运行中</a:t>
            </a: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最常见的诱因之一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端口配置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管理好每个端口，是网络可维护的前提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端口、链路与数据转发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51815"/>
            <a:ext cx="6483095" cy="3487007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2-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97535"/>
            <a:ext cx="6391655" cy="33955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图：端口配置 —— 别名、状态、协商、速率与双工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基本属性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别名、管理状态、协商模式、速率、双工、流控。修改前先记录当前值，错了能立刻回滚。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命名建议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采用『对端设备 - 用途 - 冗余侧』格式，例如 PLC-NOC-A2 / PLC-NOC-B2，便于一眼看清链路归属。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修改窗口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233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避开业务高峰期，先改一台观察，再批量推广。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5504688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5586983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端口别名写明白，比事后补画拓扑图可靠得多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 地址：为什么工控现场必须静态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动态分配带来便利，也带来不确定性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工业网络与设备基础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27327" y="1508760"/>
            <a:ext cx="3800040" cy="207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1-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047" y="1554480"/>
            <a:ext cx="3708600" cy="19832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592576"/>
            <a:ext cx="6391655" cy="19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图：IP 地址配置 —— MAC 地址、IP、子网掩码与网关</a:t>
            </a:r>
            <a:endParaRPr sz="8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19660" y="3831336"/>
            <a:ext cx="4215375" cy="207467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nipaste_2026-09-06_19-02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80" y="3877056"/>
            <a:ext cx="4123935" cy="19832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915152"/>
            <a:ext cx="6391655" cy="19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图：配置菜单位置 —— 在管理界面中找到 IP 配置项的入口</a:t>
            </a:r>
            <a:endParaRPr sz="8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DHCP 的问题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依赖服务器在线、依赖广播报文。服务器故障时新设备无法入网，租期到期还可能换地址，导致上位机组态失联。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静态配置三要素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2789682"/>
            <a:ext cx="3767328" cy="59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 地址、子网掩码、默认网关。掩码决定同网段范围，网关是跨网段通信的唯一出口，填错就会出现能通同网段却出不去的怪象。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3700653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3654933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入口与复核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397497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上图为参数填写区，下图展示了菜单路径。改完逐项复核，并确认新地址不与已有设备冲突、已在监控平台登记。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71231" y="5504688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3" y="5586983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改管理 IP 前，先确认维护通道不会因此中断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SNMP 配置：调控中心智能感知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让设备主动把状态报上来，而不是等人去巡检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安全加固与网络监控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56125"/>
            <a:ext cx="6483095" cy="3478386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5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01845"/>
            <a:ext cx="6391655" cy="33869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图：SNMP 配置 —— 团体名、Trap 端口与 Trap 服务器地址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团体名就是口令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只读与读写团体名用于鉴权。public 与 private 是出厂默认值，必须修改，否则等于把配置权限公开。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Trap 与查询端口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查询用 161，Trap（设备主动上报）用 162。Trap 服务器地址必须指向真实在运行的网管主机。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版本选择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v1/v2c 的团体名在报文中明文传输，建议升级到 SNMPv3，支持加密与真正的用户认证。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5504688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5586983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团体名不改，等同于给全网发了一把钥匙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东土 ACL 现状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 ACL 但目前未启用 —— 物理分段已满足当前需求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安全加固与网络监控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4180" y="1508760"/>
            <a:ext cx="6406335" cy="4373118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4-4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00" y="1554480"/>
            <a:ext cx="6314895" cy="42816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图：ACL 配置 —— 端口访问控制模式（默认为不控制）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当前状态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59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东土交换机自带 ACL 访问控制，但我们目前没有使用。主要原因是当前使用场景中已通过物理方式做了网段划分，且该交换机仅用于场站内部数据通信，设备都可信。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694051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648331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为什么不立刻启用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968371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现场设备多、变更频繁；启用 ACL 一旦写错规则，可能直接阻断正常通信，且目前没有回滚预案。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700653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654933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什么时候要补上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97497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当出现私接设备、违规接入或安全事件需要阻断时，应优先在核心与汇聚口开启 ACL 并先观察一段时间。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5504688"/>
            <a:ext cx="4041648" cy="603504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5586983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默认不控制 = 任何设备插上就能通信</a:t>
            </a:r>
            <a:endParaRPr sz="98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B94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整网通信链路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从阀室到场站，再到调控中心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B94A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端口、链路与数据转发</a:t>
            </a:r>
            <a:endParaRPr sz="1050" b="0">
              <a:solidFill>
                <a:srgbClr val="B94A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0" y="1170305"/>
            <a:ext cx="9445625" cy="2250440"/>
          </a:xfrm>
          <a:prstGeom prst="rect">
            <a:avLst/>
          </a:prstGeom>
          <a:solidFill>
            <a:srgbClr val="FDF3E7"/>
          </a:solidFill>
          <a:ln w="9525">
            <a:solidFill>
              <a:srgbClr val="EEC7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8275" y="1223328"/>
            <a:ext cx="8897112" cy="20656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阀室数据进入赫斯曼交换机，例如有</a:t>
            </a:r>
            <a:r>
              <a:rPr lang="en-US" alt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192.20.1.1/192.20.2.1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两个网段，阀室内数据通过自控交换机进入赫斯曼交换机后，由赫斯曼交换机光电转换，从赫斯曼交换机上的光纤跳线进入</a:t>
            </a:r>
            <a:r>
              <a:rPr lang="en-US" alt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ODF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架，</a:t>
            </a:r>
            <a:r>
              <a:rPr lang="en-US" alt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ODF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架内部光纤连接伴行光缆，伴行光缆进入下一个</a:t>
            </a:r>
            <a:r>
              <a:rPr lang="en-US" alt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上一个阀室的</a:t>
            </a:r>
            <a:r>
              <a:rPr lang="en-US" alt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ODF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架，从</a:t>
            </a:r>
            <a:r>
              <a:rPr lang="en-US" alt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ODF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到赫斯曼交换机，经过赫斯曼交换机上的光纤进入伴行光缆，最终到达场站，场站内部的赫斯曼交换机接入东土交换机或者光通信设备交换机，站内网络连通，都可获得数据，两台交换机物理隔离，进入路由器，路由器根据配置的路由表以及数据的</a:t>
            </a:r>
            <a:r>
              <a:rPr lang="en-US" altLang="zh-CN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目的地址，进入对应的入南昌中心（中间还经过了</a:t>
            </a:r>
            <a:r>
              <a:rPr lang="zh-CN" altLang="en-US" sz="14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防火墙）</a:t>
            </a:r>
            <a:endParaRPr lang="zh-CN" altLang="en-US" sz="14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Snipaste_2026-09-07_20-18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465195"/>
            <a:ext cx="4320000" cy="31582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交换机怎么知道该往哪转发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二层转发的全部秘密：学习、查表、泛洪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端口、链路与数据转发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8377"/>
            <a:ext cx="6483095" cy="3273883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1-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4097"/>
            <a:ext cx="6391655" cy="31824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图：端口状态信息 —— 管理状态、连接状态、速率与双工模式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学习（Learning）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收到帧后把「源 MAC + 入端口」记进 MAC 地址表（FDB）。图中每个端口的状态，是这张表发挥作用的基础。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查表转发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用目的 MAC 查表，命中就只往对应端口发。这正是交换机区别于集线器的核心能力，也是带宽利用率的来源。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查不到就泛洪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 MAC 不在表里时，会向同 VLAN 的所有端口泛洪。广播风暴与 MAC 表被刷爆都源于这个机制。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48284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表项会老化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4802886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 表项有老化时间。设备换口后需等待老化或手工清空，否则会出现按老表转发的诡异丢包。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端口命名：把物理接线变成可维护资产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一份端口描述，就是一张最小可用的拓扑图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端口、链路与数据转发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51815"/>
            <a:ext cx="6483095" cy="3487007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2-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97535"/>
            <a:ext cx="6391655" cy="33955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图：端口配置 —— 别名、状态、协商、速率与双工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命名规范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采用「对端设备-用途-冗余侧」格式，例如 PLC-NOC-A2 与 PLC-NOC-B2 分别表示双网冗余的 A 网与 B 网。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从端口表读出结构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图中可见 PLC、SIS 安全仪表系统、站控机、路由器、运营商专线、工控安全监测设备，业务边界一目了然。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先命名，后接线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接入前先把描述写好再插线，避免先接上以后再补 —— 现实情况是这个以后永远不会到来。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48284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交接与抢修价值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4802886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人员变动时，完整的端口描述能让接手的人在几分钟内摸清现场，而不是逐根拔线确认。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广播域：为什么必须隔离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不隔离的代价，是整个网段一起瘫痪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4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9038"/>
            <a:ext cx="6391655" cy="3232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图：VLAN 信息 —— 默认 VLAN 1，所有端口均为 Untag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广播会传遍全网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二层广播帧会被转发到同一广播域的所有端口。终端越多、广播越频繁，带宽与终端 CPU 被消耗得越厉害。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广播风暴的成因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网络环路、故障网卡、病毒或误配置都可能引发风暴，表现为全网卡顿甚至完全不可用。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 的本质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把一个物理交换机划分成多个相互隔离的逻辑交换机，每个 VLAN 都是一个独立的广播域。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48284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隔离也是安全手段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4802886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控制网、监控网、办公网划分到不同 VLAN 后互不可见，这是从网络层面落实分区分域的基础。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 标签与端口类型</a:t>
            </a:r>
            <a:endParaRPr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Access 口与 Trunk 口的区别，一张图讲清楚</a:t>
            </a:r>
            <a:endParaRPr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ipaste_2026-09-06_19-04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9038"/>
            <a:ext cx="6391655" cy="3232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91022"/>
            <a:ext cx="6391655" cy="217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图：VLAN 信息 —— 默认 VLAN 1，所有端口均为 Untag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 VLAN 1 的隐患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90688" y="1783080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出厂状态是所有端口都在 VLAN 1（图中 default，全部 Untag）。这意味着所有终端同处一个广播域，应尽早整改。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46964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Untag（Access 口）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2789682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端口只属于一个 VLAN，收发的帧不带标签。PLC、站控机、仪表等终端都接在这类端口上。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47624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Tag（Trunk 口）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0688" y="3796283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端口承载多个 VLAN，帧带 802.1Q 标签，用于交换机之间或交换机与上联设备的互联。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48284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PVID</a:t>
            </a:r>
            <a:endParaRPr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4802886"/>
            <a:ext cx="3767328" cy="412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端口收到不带标签的帧时，给它打上哪个 VLAN 的标签。PVID 与允许 VLAN 列表不一致是常见的配置错误来源。</a:t>
            </a:r>
            <a:endParaRPr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7838"/>
            <a:ext cx="8595360" cy="403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信号故障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altLang="en-US"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11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一句话，自有设备通信故障</a:t>
            </a: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790688" y="1463040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自有</a:t>
            </a: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790688" y="1783080"/>
            <a:ext cx="3767328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仪表、阀门，通过接线进入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模块，直接进入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，这些属于自有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4"/>
            </p:custDataLst>
          </p:nvPr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790688" y="2469642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790688" y="2789682"/>
            <a:ext cx="3767328" cy="86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信号虽然类型不一致，但是接线总体经过设备可以理解，以现场划分，设备从现场的信号接线进入机柜间，进入接线端子、浪涌保护器、开关端子，最终进入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模块，当然实际接线他们并不一致，这涉及到有源无源以及供电的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7"/>
            </p:custDataLst>
          </p:nvPr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8"/>
            </p:custDataLst>
          </p:nvPr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15"/>
          <p:cNvSpPr txBox="1"/>
          <p:nvPr>
            <p:custDataLst>
              <p:tags r:id="rId9"/>
            </p:custDataLst>
          </p:nvPr>
        </p:nvSpPr>
        <p:spPr>
          <a:xfrm>
            <a:off x="7769098" y="4008247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16"/>
          <p:cNvSpPr txBox="1"/>
          <p:nvPr>
            <p:custDataLst>
              <p:tags r:id="rId10"/>
            </p:custDataLst>
          </p:nvPr>
        </p:nvSpPr>
        <p:spPr>
          <a:xfrm>
            <a:off x="7729093" y="4248277"/>
            <a:ext cx="376732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信号是针对现场的控制信号，他在机柜间和现场是两个回路，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24V+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到开关端子，到继电器的供电端子，再回到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模块然后进入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24V-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，现场则从现场到继电器对应的常开或常闭触点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7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194560" cy="13074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8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68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68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1560" y="3657600"/>
            <a:ext cx="1280160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50208"/>
            <a:ext cx="4297680" cy="518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数据链路及故障排查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75120" y="1920240"/>
            <a:ext cx="4800600" cy="3017520"/>
          </a:xfrm>
          <a:prstGeom prst="rect">
            <a:avLst/>
          </a:prstGeom>
          <a:solidFill>
            <a:srgbClr val="21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6"/>
          <p:cNvSpPr txBox="1"/>
          <p:nvPr/>
        </p:nvSpPr>
        <p:spPr>
          <a:xfrm>
            <a:off x="1005840" y="4937760"/>
            <a:ext cx="4297680" cy="534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lang="zh-CN" sz="1200" b="0">
                <a:solidFill>
                  <a:srgbClr val="9CBC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现场到上位机，阀室到场站，场站到中心，数据链上的故障，从链上</a:t>
            </a:r>
            <a:r>
              <a:rPr lang="zh-CN" sz="1200" b="0">
                <a:solidFill>
                  <a:srgbClr val="9CBC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sz="1200" b="0">
              <a:solidFill>
                <a:srgbClr val="9CBC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7838"/>
            <a:ext cx="8595360" cy="403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信号数据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</a:t>
            </a:r>
            <a:endParaRPr lang="zh-CN" altLang="en-US"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11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一句话，自有设备通信数据怎么走</a:t>
            </a: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endParaRPr lang="zh-CN"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790688" y="1463040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自有</a:t>
            </a: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790688" y="1783080"/>
            <a:ext cx="3767328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仪表、阀门，通过接线进入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模块，直接进入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，这些属于自有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4"/>
            </p:custDataLst>
          </p:nvPr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790688" y="2469642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790688" y="2789682"/>
            <a:ext cx="3767328" cy="86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信号虽然类型不一致，但是接线总体经过设备可以理解，以现场划分，设备从现场的信号接线进入机柜间，进入接线端子、浪涌保护器、开关端子，最终进入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模块，当然实际接线他们并不一致，这涉及到有源无源以及供电的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7"/>
            </p:custDataLst>
          </p:nvPr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8"/>
            </p:custDataLst>
          </p:nvPr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975" y="1390015"/>
            <a:ext cx="6480000" cy="4858313"/>
          </a:xfrm>
          <a:prstGeom prst="rect">
            <a:avLst/>
          </a:prstGeom>
        </p:spPr>
      </p:pic>
      <p:sp>
        <p:nvSpPr>
          <p:cNvPr id="26" name="TextBox 15"/>
          <p:cNvSpPr txBox="1"/>
          <p:nvPr>
            <p:custDataLst>
              <p:tags r:id="rId10"/>
            </p:custDataLst>
          </p:nvPr>
        </p:nvSpPr>
        <p:spPr>
          <a:xfrm>
            <a:off x="7769098" y="4008247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16"/>
          <p:cNvSpPr txBox="1"/>
          <p:nvPr>
            <p:custDataLst>
              <p:tags r:id="rId11"/>
            </p:custDataLst>
          </p:nvPr>
        </p:nvSpPr>
        <p:spPr>
          <a:xfrm>
            <a:off x="7729093" y="4248277"/>
            <a:ext cx="376732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信号是针对现场的控制信号，他在机柜间和现场是两个回路，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24V+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到开关端子，到继电器的供电端子，再回到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模块然后进入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24V-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，现场则从现场到继电器对应的常开或常闭触点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7838"/>
            <a:ext cx="8595360" cy="403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信号故障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altLang="en-US"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11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一句话，自有设备通信故障</a:t>
            </a: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790688" y="1463040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自有</a:t>
            </a: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790688" y="1783080"/>
            <a:ext cx="3767328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仪表、阀门，通过接线进入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模块，直接进入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，这些属于自有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4"/>
            </p:custDataLst>
          </p:nvPr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790688" y="2469642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790688" y="2789682"/>
            <a:ext cx="3767328" cy="86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信号虽然类型不一致，但是接线总体经过设备可以理解，以现场划分，设备从现场的信号接线进入机柜间，进入接线端子、浪涌保护器、开关端子，最终进入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模块，当然实际接线他们并不一致，这涉及到有源无源以及供电的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7"/>
            </p:custDataLst>
          </p:nvPr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8"/>
            </p:custDataLst>
          </p:nvPr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15"/>
          <p:cNvSpPr txBox="1"/>
          <p:nvPr>
            <p:custDataLst>
              <p:tags r:id="rId9"/>
            </p:custDataLst>
          </p:nvPr>
        </p:nvSpPr>
        <p:spPr>
          <a:xfrm>
            <a:off x="7769098" y="4008247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16"/>
          <p:cNvSpPr txBox="1"/>
          <p:nvPr>
            <p:custDataLst>
              <p:tags r:id="rId10"/>
            </p:custDataLst>
          </p:nvPr>
        </p:nvSpPr>
        <p:spPr>
          <a:xfrm>
            <a:off x="7729093" y="4248277"/>
            <a:ext cx="376732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信号是针对现场的控制信号，他在机柜间和现场是两个回路，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24V+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到开关端子，到继电器的供电端子，再回到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模块然后进入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24V-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，现场则从现场到继电器对应的常开或常闭触点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7838"/>
            <a:ext cx="8595360" cy="403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altLang="zh-CN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信号故障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altLang="en-US"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11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一句话，自有设备通信故障</a:t>
            </a: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790688" y="1463040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自有</a:t>
            </a: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790688" y="1783080"/>
            <a:ext cx="3767328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仪表、阀门，通过接线进入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模块，直接进入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，这些属于自有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4"/>
            </p:custDataLst>
          </p:nvPr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790688" y="2469642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790688" y="2789682"/>
            <a:ext cx="3767328" cy="86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信号虽然类型不一致，但是接线总体经过设备可以理解，以现场划分，设备从现场的信号接线进入机柜间，进入接线端子、浪涌保护器、开关端子，最终进入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模块，当然实际接线他们并不一致，这涉及到有源无源以及供电的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7"/>
            </p:custDataLst>
          </p:nvPr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8"/>
            </p:custDataLst>
          </p:nvPr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15"/>
          <p:cNvSpPr txBox="1"/>
          <p:nvPr>
            <p:custDataLst>
              <p:tags r:id="rId9"/>
            </p:custDataLst>
          </p:nvPr>
        </p:nvSpPr>
        <p:spPr>
          <a:xfrm>
            <a:off x="7769098" y="4008247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16"/>
          <p:cNvSpPr txBox="1"/>
          <p:nvPr>
            <p:custDataLst>
              <p:tags r:id="rId10"/>
            </p:custDataLst>
          </p:nvPr>
        </p:nvSpPr>
        <p:spPr>
          <a:xfrm>
            <a:off x="7729093" y="4248277"/>
            <a:ext cx="376732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信号是针对现场的控制信号，他在机柜间和现场是两个回路，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24V+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到开关端子，到继电器的供电端子，再回到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模块然后进入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24V-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，现场则从现场到继电器对应的常开或常闭触点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7838"/>
            <a:ext cx="8595360" cy="403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altLang="zh-CN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信号故障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altLang="en-US"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9326880" cy="211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一句话，自有设备通信故障</a:t>
            </a:r>
            <a:r>
              <a:rPr lang="zh-CN" sz="11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sz="11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790688" y="1463040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自有</a:t>
            </a: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790688" y="1783080"/>
            <a:ext cx="3767328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仪表、阀门，通过接线进入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模块，直接进入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，这些属于自有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4"/>
            </p:custDataLst>
          </p:nvPr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790688" y="2469642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790688" y="2789682"/>
            <a:ext cx="3767328" cy="86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信号虽然类型不一致，但是接线总体经过设备可以理解，以现场划分，设备从现场的信号接线进入机柜间，进入接线端子、浪涌保护器、开关端子，最终进入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模块，当然实际接线他们并不一致，这涉及到有源无源以及供电的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7"/>
            </p:custDataLst>
          </p:nvPr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8"/>
            </p:custDataLst>
          </p:nvPr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15"/>
          <p:cNvSpPr txBox="1"/>
          <p:nvPr>
            <p:custDataLst>
              <p:tags r:id="rId9"/>
            </p:custDataLst>
          </p:nvPr>
        </p:nvSpPr>
        <p:spPr>
          <a:xfrm>
            <a:off x="7769098" y="4008247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16"/>
          <p:cNvSpPr txBox="1"/>
          <p:nvPr>
            <p:custDataLst>
              <p:tags r:id="rId10"/>
            </p:custDataLst>
          </p:nvPr>
        </p:nvSpPr>
        <p:spPr>
          <a:xfrm>
            <a:off x="7729093" y="4248277"/>
            <a:ext cx="376732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信号是针对现场的控制信号，他在机柜间和现场是两个回路，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24V+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到开关端子，到继电器的供电端子，再回到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模块然后进入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24V-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，现场则从现场到继电器对应的常开或常闭触点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7838"/>
            <a:ext cx="8595360" cy="403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第三方信号故障</a:t>
            </a:r>
            <a:r>
              <a:rPr lang="zh-CN" altLang="en-US" sz="210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</a:t>
            </a:r>
            <a:endParaRPr lang="zh-CN" altLang="en-US" sz="210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11335" y="219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VLAN 与广播域隔离</a:t>
            </a:r>
            <a:endParaRPr sz="105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720840" cy="4828032"/>
          </a:xfrm>
          <a:prstGeom prst="rect">
            <a:avLst/>
          </a:prstGeom>
          <a:solidFill>
            <a:srgbClr val="FAFCFD"/>
          </a:solidFill>
          <a:ln w="9525">
            <a:solidFill>
              <a:srgbClr val="E2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33318"/>
            <a:ext cx="6483095" cy="33240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7571231" y="1508760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790688" y="1463040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第三方设备</a:t>
            </a:r>
            <a:endParaRPr lang="zh-CN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790688" y="1783080"/>
            <a:ext cx="3767328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场站内所有接入到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IICG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网关的设备都属于第三方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4"/>
            </p:custDataLst>
          </p:nvPr>
        </p:nvSpPr>
        <p:spPr>
          <a:xfrm>
            <a:off x="7571231" y="2515362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790688" y="2469642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790688" y="2789682"/>
            <a:ext cx="376732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第三方设备的数据，通常遵守以下链接方式：设备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交换机，少数的设备如激光甲烷，是独立的电脑和机柜间信号箱，从信号箱到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ICG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。流量计先到流量计算机再进入</a:t>
            </a:r>
            <a:r>
              <a:rPr lang="en-US" altLang="zh-CN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ICG</a:t>
            </a:r>
            <a:endParaRPr lang="en-US" altLang="zh-CN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7"/>
            </p:custDataLst>
          </p:nvPr>
        </p:nvSpPr>
        <p:spPr>
          <a:xfrm>
            <a:off x="7571231" y="3521964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8"/>
            </p:custDataLst>
          </p:nvPr>
        </p:nvSpPr>
        <p:spPr>
          <a:xfrm>
            <a:off x="7571231" y="4528566"/>
            <a:ext cx="50292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707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07B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15"/>
          <p:cNvSpPr txBox="1"/>
          <p:nvPr>
            <p:custDataLst>
              <p:tags r:id="rId9"/>
            </p:custDataLst>
          </p:nvPr>
        </p:nvSpPr>
        <p:spPr>
          <a:xfrm>
            <a:off x="7769098" y="4008247"/>
            <a:ext cx="3822191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250" b="1">
                <a:solidFill>
                  <a:srgbClr val="1B4F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信号故障</a:t>
            </a:r>
            <a:endParaRPr lang="zh-CN" altLang="en-US" sz="1250" b="1">
              <a:solidFill>
                <a:srgbClr val="1B4F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16"/>
          <p:cNvSpPr txBox="1"/>
          <p:nvPr>
            <p:custDataLst>
              <p:tags r:id="rId10"/>
            </p:custDataLst>
          </p:nvPr>
        </p:nvSpPr>
        <p:spPr>
          <a:xfrm>
            <a:off x="7729093" y="4248277"/>
            <a:ext cx="3767328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最常见的故障就是，数据丢失。确认丢失</a:t>
            </a:r>
            <a:r>
              <a:rPr lang="zh-CN" altLang="en-US" sz="10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后，</a:t>
            </a:r>
            <a:endParaRPr lang="zh-CN" altLang="en-US" sz="10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73152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endParaRPr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9CBC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Questions &amp; Discussion</a:t>
            </a:r>
            <a:endParaRPr sz="1500" b="0">
              <a:solidFill>
                <a:srgbClr val="9CBC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1560" y="3977639"/>
            <a:ext cx="1371600" cy="411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6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7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8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9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0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1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2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3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4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5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6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7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8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19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0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1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2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3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4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5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6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7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8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29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0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1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2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3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4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5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6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7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8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39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0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1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2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3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4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5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6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7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8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49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0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1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2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3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4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5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6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7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8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59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ags/tag60.xml><?xml version="1.0" encoding="utf-8"?>
<p:tagLst xmlns:p="http://schemas.openxmlformats.org/presentationml/2006/main">
  <p:tag name="KSO_WM_DIAGRAM_VIRTUALLY_FRAME" val="{&quot;height&quot;:295.43999999999994,&quot;left&quot;:596.1599212598425,&quot;top&quot;:115.2,&quot;width&quot;:318.239999999999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6482</Words>
  <Application>WPS 演示</Application>
  <PresentationFormat>On-screen Show (4:3)</PresentationFormat>
  <Paragraphs>529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还记得小时候的样子</cp:lastModifiedBy>
  <cp:revision>9</cp:revision>
  <dcterms:created xsi:type="dcterms:W3CDTF">2013-01-27T09:14:00Z</dcterms:created>
  <dcterms:modified xsi:type="dcterms:W3CDTF">2026-09-10T06:33:23Z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A88CD17DD9E44413ACE885D7F2A848FC_12</vt:lpwstr>
  </property>
  <property fmtid="{D5CDD505-2E9C-101B-9397-08002B2CF9AE}" pid="3" name="KSOProductBuildVer">
    <vt:lpwstr>2052-12.1.0.28505</vt:lpwstr>
  </property>
</Properties>
</file>